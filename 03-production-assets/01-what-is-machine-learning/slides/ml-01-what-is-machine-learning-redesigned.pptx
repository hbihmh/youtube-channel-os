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WHAT IF WE DON'T WRITE EVERY RULE?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8813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Aptos"/>
              </a:rPr>
              <a:t>A simple question leads us to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784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500" b="1">
                <a:solidFill>
                  <a:srgbClr val="F0F6FC"/>
                </a:solidFill>
                <a:latin typeface="Aptos"/>
              </a:rPr>
              <a:t>SPAM 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3063240"/>
            <a:ext cx="228600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3154680"/>
            <a:ext cx="21031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EMAIL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227832"/>
            <a:ext cx="685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063240"/>
            <a:ext cx="228600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79" y="3154680"/>
            <a:ext cx="210312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SPAM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800600"/>
            <a:ext cx="9784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58A6FF"/>
                </a:solidFill>
                <a:latin typeface="Aptos"/>
              </a:rPr>
              <a:t>Can we teach a computer from examples?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WHAT IS MACHINE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784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0F6FC"/>
                </a:solidFill>
                <a:latin typeface="Aptos"/>
              </a:rPr>
              <a:t>LEARNING USEFUL BEHAVIOR FROM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3154680"/>
            <a:ext cx="2148840" cy="960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3246120"/>
            <a:ext cx="1965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59" y="3319272"/>
            <a:ext cx="502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154680"/>
            <a:ext cx="2148840" cy="960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3246120"/>
            <a:ext cx="1965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59" y="3319272"/>
            <a:ext cx="502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3154680"/>
            <a:ext cx="2148840" cy="96012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246120"/>
            <a:ext cx="1965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99669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  <a:latin typeface="Aptos"/>
              </a:rPr>
              <a:t>A computational approach to improving performance through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TRADITIONAL PROGRAMMING vs.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257800" cy="40690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64792"/>
            <a:ext cx="4800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TRADITIONAL PROGRAMMING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788920"/>
            <a:ext cx="1417320" cy="9144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12344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953512"/>
            <a:ext cx="292607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2788920"/>
            <a:ext cx="1417320" cy="9144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2880360"/>
            <a:ext cx="12344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953512"/>
            <a:ext cx="292607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62856" y="2788920"/>
            <a:ext cx="1417320" cy="9144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2880360"/>
            <a:ext cx="123444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754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  <a:latin typeface="Aptos"/>
              </a:rPr>
              <a:t>Humans write the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5257800" cy="40690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764792"/>
            <a:ext cx="4800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58A6FF"/>
                </a:solidFill>
                <a:latin typeface="Aptos"/>
              </a:rPr>
              <a:t>MACHINE LEARNING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2788920"/>
            <a:ext cx="1051560" cy="9144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880360"/>
            <a:ext cx="868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2953512"/>
            <a:ext cx="16459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2788920"/>
            <a:ext cx="1051560" cy="9144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880360"/>
            <a:ext cx="868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2953512"/>
            <a:ext cx="16459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25712" y="2788920"/>
            <a:ext cx="1051560" cy="9144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2880360"/>
            <a:ext cx="868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2953512"/>
            <a:ext cx="16459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33304" y="2788920"/>
            <a:ext cx="1051560" cy="91440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4744" y="2880360"/>
            <a:ext cx="86868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251960"/>
            <a:ext cx="4754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  <a:latin typeface="Aptos"/>
              </a:rPr>
              <a:t>The model is learned from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THE CORE ML 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2423160"/>
            <a:ext cx="1874519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2514600"/>
            <a:ext cx="1691639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EXAMPLES /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9151" y="2587752"/>
            <a:ext cx="1097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2423160"/>
            <a:ext cx="1874519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2514600"/>
            <a:ext cx="1691639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587752"/>
            <a:ext cx="1097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90288" y="2423160"/>
            <a:ext cx="1874519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7" y="2514600"/>
            <a:ext cx="1691639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7" y="2587752"/>
            <a:ext cx="1097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5975" y="2423160"/>
            <a:ext cx="1874519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5" y="2514600"/>
            <a:ext cx="1691639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NEW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6" y="2587752"/>
            <a:ext cx="10972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41663" y="2423160"/>
            <a:ext cx="1874519" cy="1078992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3103" y="2514600"/>
            <a:ext cx="1691639" cy="8961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72000"/>
            <a:ext cx="8321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0">
                <a:solidFill>
                  <a:srgbClr val="8B949E"/>
                </a:solidFill>
                <a:latin typeface="Aptos"/>
              </a:rPr>
              <a:t>The central mental model for this course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HUMANS STILL DESIGN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2148840"/>
            <a:ext cx="205740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22402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HUMAN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2313432"/>
            <a:ext cx="47548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2148840"/>
            <a:ext cx="205740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24527" y="22402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LEARNING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7" y="2313432"/>
            <a:ext cx="475488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57416" y="2148840"/>
            <a:ext cx="205740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8855" y="22402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3794760"/>
            <a:ext cx="233172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3959352"/>
            <a:ext cx="187451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794760"/>
            <a:ext cx="233172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959352"/>
            <a:ext cx="187451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794760"/>
            <a:ext cx="233172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3959352"/>
            <a:ext cx="187451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10149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58A6FF"/>
                </a:solidFill>
                <a:latin typeface="Aptos"/>
              </a:rPr>
              <a:t>Machine learning does not eliminate engineering.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WHAT IS A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965960"/>
            <a:ext cx="205740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05740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2130552"/>
            <a:ext cx="594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965960"/>
            <a:ext cx="205740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205740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59" y="2130552"/>
            <a:ext cx="594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965960"/>
            <a:ext cx="205740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05740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77639"/>
            <a:ext cx="100584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58A6FF"/>
                </a:solidFill>
                <a:latin typeface="Aptos"/>
              </a:rPr>
              <a:t>NEW EMAIL  →  SPAM MODEL  →  SPAM / NOT SPAM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8B949E"/>
                </a:solidFill>
                <a:latin typeface="Aptos"/>
              </a:rPr>
              <a:t>A model is a computational representation used to produce outputs from inputs.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WHAT DOES "LEARNING"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2286000"/>
            <a:ext cx="2423160" cy="100584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377440"/>
            <a:ext cx="224027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3320" y="2450592"/>
            <a:ext cx="411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286000"/>
            <a:ext cx="2423160" cy="100584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2377440"/>
            <a:ext cx="224027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LEARNING 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50592"/>
            <a:ext cx="4114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286000"/>
            <a:ext cx="2423160" cy="100584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78040" y="2377440"/>
            <a:ext cx="2240279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IMPROVED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251960"/>
            <a:ext cx="8138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58A6FF"/>
                </a:solidFill>
                <a:latin typeface="Aptos"/>
              </a:rPr>
              <a:t>Learning = improvement through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892040"/>
            <a:ext cx="8503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  <a:latin typeface="Aptos"/>
              </a:rPr>
              <a:t>Not consciousness.  •  Not human-like thinking.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33172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2316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496312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3172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42316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399" y="2496312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59" y="233172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9" y="242316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160520"/>
            <a:ext cx="95097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58A6FF"/>
                </a:solidFill>
                <a:latin typeface="Aptos"/>
              </a:rPr>
              <a:t>Training uses experience to build or adjust a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33172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42316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NEW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496312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3172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79" y="242316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TRAINED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399" y="2496312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59" y="2331720"/>
            <a:ext cx="214884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9" y="2423160"/>
            <a:ext cx="19659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60520"/>
            <a:ext cx="8595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58A6FF"/>
                </a:solidFill>
                <a:latin typeface="Aptos"/>
              </a:rPr>
              <a:t>Inference = using a trained model on new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0600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8B949E"/>
                </a:solidFill>
                <a:latin typeface="Aptos"/>
              </a:rPr>
              <a:t>Training: examples → model     |     Inference: new input →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00200"/>
            <a:ext cx="182880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1764792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EMAIL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6459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00200"/>
            <a:ext cx="196596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64792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3FB950"/>
                </a:solidFill>
                <a:latin typeface="Aptos"/>
              </a:rPr>
              <a:t>SPAM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514600"/>
            <a:ext cx="182880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679192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EMAIL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5603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514600"/>
            <a:ext cx="196596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679192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NOT SPAM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429000"/>
            <a:ext cx="182880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3593592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EMAIL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4747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429000"/>
            <a:ext cx="196596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593592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3FB950"/>
                </a:solidFill>
                <a:latin typeface="Aptos"/>
              </a:rPr>
              <a:t>SPAM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343400"/>
            <a:ext cx="182880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4507992"/>
            <a:ext cx="1371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EMAIL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389120"/>
            <a:ext cx="502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4343400"/>
            <a:ext cx="1965960" cy="658368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507992"/>
            <a:ext cx="15087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NOT SPAM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240280"/>
            <a:ext cx="18288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0F6FC"/>
                </a:solidFill>
                <a:latin typeface="Aptos"/>
              </a:rPr>
              <a:t>INPUT +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24028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1828800"/>
            <a:ext cx="1600200" cy="1325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993392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LEARN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3977639"/>
            <a:ext cx="42976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58A6FF"/>
                </a:solidFill>
                <a:latin typeface="Aptos"/>
              </a:rPr>
              <a:t>The examples come with answers.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UNSUPERVISED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11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182880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31720" y="214884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88920" y="169164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40280" y="274320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23360" y="365760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3977639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74920" y="361188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77840" y="406908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0" y="182880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18120" y="214884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1040" y="173736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0" y="274320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0" y="3749039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84080" y="411480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87000" y="3657600"/>
            <a:ext cx="201168" cy="201168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0F6FC"/>
                </a:solidFill>
                <a:latin typeface="Apto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66344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66344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0F6FC"/>
                </a:solidFill>
                <a:latin typeface="Aptos"/>
              </a:rPr>
              <a:t>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5486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663440"/>
            <a:ext cx="21945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F0F6FC"/>
                </a:solidFill>
                <a:latin typeface="Aptos"/>
              </a:rPr>
              <a:t>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4663440"/>
            <a:ext cx="18288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58A6FF"/>
                </a:solidFill>
                <a:latin typeface="Aptos"/>
              </a:rPr>
              <a:t>No target answers are provided.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LET'S SEE THE IDEA IN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784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0F6FC"/>
                </a:solidFill>
                <a:latin typeface="Aptos"/>
              </a:rPr>
              <a:t>CONCEPT  →  CODE  →  BEHAVIOR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3703320"/>
            <a:ext cx="448056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3867911"/>
            <a:ext cx="4023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ml_01_demo.py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4361688"/>
            <a:ext cx="4023360" cy="22859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Simple demonstration of the ML mental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OUR EXAMPLE: SPAM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784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900" b="1">
                <a:solidFill>
                  <a:srgbClr val="F0F6FC"/>
                </a:solidFill>
                <a:latin typeface="Aptos"/>
              </a:rPr>
              <a:t>OUR EXAMPLE: SPAM FILTER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788920"/>
            <a:ext cx="5486400" cy="12344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2953512"/>
            <a:ext cx="5029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3447287"/>
            <a:ext cx="50292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"Congratulations! You won a FREE prize!"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306324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788920"/>
            <a:ext cx="2103120" cy="12344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953512"/>
            <a:ext cx="164591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85149"/>
                </a:solidFill>
                <a:latin typeface="Aptos"/>
              </a:rP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447287"/>
            <a:ext cx="164591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SPAM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800600"/>
            <a:ext cx="8595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58A6FF"/>
                </a:solidFill>
                <a:latin typeface="Aptos"/>
              </a:rPr>
              <a:t>Goal: classify a new email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RULES vs. LEARNED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120640" cy="3611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5623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TRADITIONAL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3931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>
                <a:solidFill>
                  <a:srgbClr val="F0F6FC"/>
                </a:solidFill>
                <a:latin typeface="Aptos"/>
              </a:rPr>
              <a:t>IF "FREE"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3383280"/>
            <a:ext cx="4572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58A6FF"/>
                </a:solidFill>
                <a:latin typeface="Apto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840480"/>
            <a:ext cx="25603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85149"/>
                </a:solidFill>
                <a:latin typeface="Aptos"/>
              </a:rPr>
              <a:t>SPAM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17720"/>
            <a:ext cx="4160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  <a:latin typeface="Aptos"/>
              </a:rPr>
              <a:t>A rule written by 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91640"/>
            <a:ext cx="5120640" cy="36118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56232"/>
            <a:ext cx="4663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58A6FF"/>
                </a:solidFill>
                <a:latin typeface="Aptos"/>
              </a:rPr>
              <a:t>MACHINE LEARNING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2743200"/>
            <a:ext cx="1325880" cy="8229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79" y="2834640"/>
            <a:ext cx="1143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MANY EXAMPLES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907792"/>
            <a:ext cx="1371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19" y="2743200"/>
            <a:ext cx="1325880" cy="8229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9" y="2834640"/>
            <a:ext cx="1143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19" y="2907792"/>
            <a:ext cx="1371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9799" y="2743200"/>
            <a:ext cx="1325880" cy="8229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21239" y="2834640"/>
            <a:ext cx="11430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17720"/>
            <a:ext cx="44805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  <a:latin typeface="Aptos"/>
              </a:rPr>
              <a:t>Behavior learned from examples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623560"/>
            <a:ext cx="9784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58A6FF"/>
                </a:solidFill>
                <a:latin typeface="Aptos"/>
              </a:rPr>
              <a:t>Rules are written. Models are learned from examples.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DID THE SYSTEM LEARN?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784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F0F6FC"/>
                </a:solidFill>
                <a:latin typeface="Aptos"/>
              </a:rPr>
              <a:t>EXAMPLES  →  MODEL  → 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520440"/>
            <a:ext cx="5257800" cy="10972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3685032"/>
            <a:ext cx="4800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DEMO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4178808"/>
            <a:ext cx="4800600" cy="27431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The model produces predictions from inputs.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8595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58A6FF"/>
                </a:solidFill>
                <a:latin typeface="Aptos"/>
              </a:rPr>
              <a:t>Can it handle a new example?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CAN IT HANDLE NEW DATA?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96596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331720"/>
            <a:ext cx="1783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TRAINING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404872"/>
            <a:ext cx="16459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24911" y="2240280"/>
            <a:ext cx="196596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1" y="2331720"/>
            <a:ext cx="1783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1" y="2404872"/>
            <a:ext cx="16459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46903" y="2240280"/>
            <a:ext cx="196596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38343" y="2331720"/>
            <a:ext cx="1783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NEW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8583" y="2404872"/>
            <a:ext cx="16459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68895" y="2240280"/>
            <a:ext cx="1965960" cy="105156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5" y="2331720"/>
            <a:ext cx="1783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USEFUL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160520"/>
            <a:ext cx="66751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58A6FF"/>
                </a:solidFill>
                <a:latin typeface="Aptos"/>
              </a:rPr>
              <a:t>GENERALIZATION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46320"/>
            <a:ext cx="8503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8B949E"/>
                </a:solidFill>
                <a:latin typeface="Aptos"/>
              </a:rPr>
              <a:t>Performing effectively on new, unseen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MACHINE LEARNING IS NOT MAGIC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474720" cy="3063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01  DATA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87168"/>
            <a:ext cx="3017520" cy="2240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Bad or irrelevant data can hurt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828800"/>
            <a:ext cx="3474720" cy="3063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19933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02  MODELS CAN MAKE MISTAKES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487168"/>
            <a:ext cx="3017520" cy="2240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Machine learning does not guarantee correct answers.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474720" cy="306324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9933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03  NEW SITUATIONS CAN BE HARD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87168"/>
            <a:ext cx="3017520" cy="2240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Performance can change on unfamiliar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257800"/>
            <a:ext cx="5852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58A6FF"/>
                </a:solidFill>
                <a:latin typeface="Aptos"/>
              </a:rPr>
              <a:t>POWERFUL ≠ MAGIC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REMEMBER THESE 3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324612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304288"/>
            <a:ext cx="2788920" cy="2560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LEARN FROM
EXPERIENCE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324612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810512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04288"/>
            <a:ext cx="2788920" cy="2560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TRAIN → MODEL
→ INFER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4612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10512"/>
            <a:ext cx="2788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F0F6FC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304288"/>
            <a:ext cx="2788920" cy="2560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0">
                <a:solidFill>
                  <a:srgbClr val="8B949E"/>
                </a:solidFill>
                <a:latin typeface="Aptos"/>
              </a:rPr>
              <a:t>GENERALIZE TO
NEW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700" b="1">
                <a:solidFill>
                  <a:srgbClr val="F0F6FC"/>
                </a:solidFill>
                <a:latin typeface="Aptos"/>
              </a:rPr>
              <a:t>NEXT: HOW DOES A MODEL LEARN?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73952"/>
            <a:ext cx="6858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  <a:latin typeface="Aptos"/>
              </a:rPr>
              <a:t>ML-01  •  WHAT IS MACHINE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37376"/>
            <a:ext cx="502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1">
                <a:solidFill>
                  <a:srgbClr val="8B949E"/>
                </a:solidFill>
                <a:latin typeface="Aptos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7844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900" b="1">
                <a:solidFill>
                  <a:srgbClr val="F0F6FC"/>
                </a:solidFill>
                <a:latin typeface="Aptos"/>
              </a:rPr>
              <a:t>HOW DOES LEARNING ACTUALLY HAPPEN?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246120"/>
            <a:ext cx="2148840" cy="100584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3337560"/>
            <a:ext cx="1965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3410712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246120"/>
            <a:ext cx="2148840" cy="100584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3337560"/>
            <a:ext cx="1965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399" y="3410712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58A6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59" y="3246120"/>
            <a:ext cx="2148840" cy="1005840"/>
          </a:xfrm>
          <a:prstGeom prst="roundRect">
            <a:avLst/>
          </a:prstGeom>
          <a:solidFill>
            <a:srgbClr val="161B22"/>
          </a:solidFill>
          <a:ln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199" y="3337560"/>
            <a:ext cx="1965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0F6FC"/>
                </a:solidFill>
                <a:latin typeface="Aptos"/>
              </a:rPr>
              <a:t>IMPROVEMENT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754880"/>
            <a:ext cx="8961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58A6FF"/>
                </a:solidFill>
                <a:latin typeface="Aptos"/>
              </a:rPr>
              <a:t>ML-02 — How Does a Machine Learning Model Learn?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349240"/>
            <a:ext cx="4297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  <a:latin typeface="Aptos"/>
              </a:rPr>
              <a:t>See you in ML-02.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4620</Words>
  <Application>WPS Presentation</Application>
  <PresentationFormat>On-screen Show (4:3)</PresentationFormat>
  <Paragraphs>152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hafiz hassan</cp:lastModifiedBy>
  <cp:revision>2</cp:revision>
  <dcterms:created xsi:type="dcterms:W3CDTF">2013-01-27T09:14:00Z</dcterms:created>
  <dcterms:modified xsi:type="dcterms:W3CDTF">2026-09-05T04:48:58Z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E8584C8ACB184F858A19F697F9C12C2D_12</vt:lpwstr>
  </property>
  <property fmtid="{D5CDD505-2E9C-101B-9397-08002B2CF9AE}" pid="3" name="KSOProductBuildVer">
    <vt:lpwstr>1033-12.1.0.28485</vt:lpwstr>
  </property>
</Properties>
</file>